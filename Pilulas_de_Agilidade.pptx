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920000">
            <a:off x="8869680" y="-731520"/>
            <a:ext cx="914400" cy="3108960"/>
          </a:xfrm>
          <a:prstGeom prst="roundRect">
            <a:avLst>
              <a:gd name="adj" fmla="val 50000"/>
            </a:avLst>
          </a:prstGeom>
          <a:solidFill>
            <a:srgbClr val="13606F"/>
          </a:solidFill>
          <a:ln/>
        </p:spPr>
      </p:sp>
      <p:sp>
        <p:nvSpPr>
          <p:cNvPr id="3" name="Shape 1"/>
          <p:cNvSpPr/>
          <p:nvPr/>
        </p:nvSpPr>
        <p:spPr>
          <a:xfrm rot="1920000">
            <a:off x="10058400" y="365760"/>
            <a:ext cx="777240" cy="2651760"/>
          </a:xfrm>
          <a:prstGeom prst="roundRect">
            <a:avLst>
              <a:gd name="adj" fmla="val 49412"/>
            </a:avLst>
          </a:prstGeom>
          <a:solidFill>
            <a:srgbClr val="2C7A8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920000">
            <a:off x="9692640" y="4206240"/>
            <a:ext cx="731520" cy="2377440"/>
          </a:xfrm>
          <a:prstGeom prst="roundRect">
            <a:avLst>
              <a:gd name="adj" fmla="val 50000"/>
            </a:avLst>
          </a:prstGeom>
          <a:solidFill>
            <a:srgbClr val="E8924A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920000">
            <a:off x="11064240" y="3657600"/>
            <a:ext cx="640080" cy="2194560"/>
          </a:xfrm>
          <a:prstGeom prst="roundRect">
            <a:avLst>
              <a:gd name="adj" fmla="val 50000"/>
            </a:avLst>
          </a:prstGeom>
          <a:solidFill>
            <a:srgbClr val="13606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DIGITAIS IPIRANGA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Pílulas de Agilidade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chapter quinzenal de aprendizado e evolução de maturidade dos times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7589520" cy="1234440"/>
          </a:xfrm>
          <a:prstGeom prst="roundRect">
            <a:avLst>
              <a:gd name="adj" fmla="val 7407"/>
            </a:avLst>
          </a:prstGeom>
          <a:solidFill>
            <a:srgbClr val="13606F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5138928"/>
            <a:ext cx="731520" cy="731520"/>
          </a:xfrm>
          <a:prstGeom prst="ellipse">
            <a:avLst/>
          </a:prstGeom>
          <a:solidFill>
            <a:srgbClr val="E8924A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5358384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057400" y="513892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057400" y="5449824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espaço contínuo de aprendizado, troca de práticas e evolução da maturidade dos times.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trilha: julho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que criar as Pílulas de Agilidade?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074920" cy="4069080"/>
          </a:xfrm>
          <a:prstGeom prst="roundRect">
            <a:avLst>
              <a:gd name="adj" fmla="val 2697"/>
            </a:avLst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86000"/>
            <a:ext cx="713232" cy="713232"/>
          </a:xfrm>
          <a:prstGeom prst="ellipse">
            <a:avLst/>
          </a:prstGeom>
          <a:solidFill>
            <a:srgbClr val="E8924A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4871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5054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VÊM DOS TIMES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097280" y="32461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“Estamos ocupados ou gerando valor?”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97280" y="40690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“O Jira conta a verdade sobre os nossos times?”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97280" y="51663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que aparecem no dia a dia e raramente têm espaço para serem discutidas. As Pílulas criam esse espaço.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26364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sinalizados pelos próprios times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3640" y="2542032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788920"/>
            <a:ext cx="292608" cy="292608"/>
          </a:xfrm>
          <a:prstGeom prst="ellipse">
            <a:avLst/>
          </a:prstGeom>
          <a:solidFill>
            <a:srgbClr val="E8924A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0" y="26517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desigual entre os times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949440" y="2962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muito diferentes de prática ágil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63640" y="3438144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46520" y="3685032"/>
            <a:ext cx="292608" cy="292608"/>
          </a:xfrm>
          <a:prstGeom prst="ellipse">
            <a:avLst/>
          </a:prstGeom>
          <a:solidFill>
            <a:srgbClr val="E8924A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0" y="35478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linguagem comum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949440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termos, entendimentos distintos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63640" y="4334256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46520" y="4581144"/>
            <a:ext cx="292608" cy="292608"/>
          </a:xfrm>
          <a:prstGeom prst="ellipse">
            <a:avLst/>
          </a:prstGeom>
          <a:solidFill>
            <a:srgbClr val="E8924A"/>
          </a:solidFill>
          <a:ln/>
        </p:spPr>
      </p:sp>
      <p:sp>
        <p:nvSpPr>
          <p:cNvPr id="22" name="Text 19"/>
          <p:cNvSpPr/>
          <p:nvPr/>
        </p:nvSpPr>
        <p:spPr>
          <a:xfrm>
            <a:off x="6949440" y="44439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usada sem prática consolidada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949440" y="47548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crescente, mas sem boas práticas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63640" y="5230368"/>
            <a:ext cx="5120640" cy="786384"/>
          </a:xfrm>
          <a:prstGeom prst="roundRect">
            <a:avLst>
              <a:gd name="adj" fmla="val 9302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446520" y="5477256"/>
            <a:ext cx="292608" cy="292608"/>
          </a:xfrm>
          <a:prstGeom prst="ellipse">
            <a:avLst/>
          </a:prstGeom>
          <a:solidFill>
            <a:srgbClr val="E8924A"/>
          </a:solidFill>
          <a:ln/>
        </p:spPr>
      </p:sp>
      <p:sp>
        <p:nvSpPr>
          <p:cNvPr id="26" name="Text 23"/>
          <p:cNvSpPr/>
          <p:nvPr/>
        </p:nvSpPr>
        <p:spPr>
          <a:xfrm>
            <a:off x="6949440" y="53400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Subutilização do Jira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949440" y="5650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não reflete a realidade do fluxo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INICIATIVA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queremos alcançar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3538728" cy="3977640"/>
          </a:xfrm>
          <a:prstGeom prst="roundRect">
            <a:avLst>
              <a:gd name="adj" fmla="val 2584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E2C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64408" y="2395728"/>
            <a:ext cx="676656" cy="676656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5576" y="25968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337560"/>
            <a:ext cx="2715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Linguagem e base comuns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88720" y="4224528"/>
            <a:ext cx="2715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Nivelar conceitos entre times de maturidades diferentes — o mesmo vocabulário para falar de valor, fluxo e entrega.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26864" y="2057400"/>
            <a:ext cx="3538728" cy="3977640"/>
          </a:xfrm>
          <a:prstGeom prst="roundRect">
            <a:avLst>
              <a:gd name="adj" fmla="val 2584"/>
            </a:avLst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38344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A8B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Shape 9"/>
          <p:cNvSpPr/>
          <p:nvPr/>
        </p:nvSpPr>
        <p:spPr>
          <a:xfrm>
            <a:off x="7114032" y="2395728"/>
            <a:ext cx="676656" cy="676656"/>
          </a:xfrm>
          <a:prstGeom prst="ellipse">
            <a:avLst/>
          </a:prstGeom>
          <a:solidFill>
            <a:srgbClr val="E8924A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9689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38344" y="3337560"/>
            <a:ext cx="2715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Autonomia com qualidade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038344" y="4224528"/>
            <a:ext cx="2715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o trabalho diário à geração de valor, reduzindo retrabalho e aumentando a autonomia dos times.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476488" y="2057400"/>
            <a:ext cx="3538728" cy="3977640"/>
          </a:xfrm>
          <a:prstGeom prst="roundRect">
            <a:avLst>
              <a:gd name="adj" fmla="val 2584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887968" y="2331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6E2C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Shape 14"/>
          <p:cNvSpPr/>
          <p:nvPr/>
        </p:nvSpPr>
        <p:spPr>
          <a:xfrm>
            <a:off x="10963656" y="2395728"/>
            <a:ext cx="676656" cy="676656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259689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87968" y="3337560"/>
            <a:ext cx="2715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Aprendizado como ritmo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887968" y="4224528"/>
            <a:ext cx="2715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contínuo e recorrente — não um treinamento pontual que se esquece na semana seguinte.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 INVESTIMENTO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a iniciativa funciona na prática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5486400" cy="1207008"/>
          </a:xfrm>
          <a:prstGeom prst="roundRect">
            <a:avLst>
              <a:gd name="adj" fmla="val 681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386584"/>
            <a:ext cx="640080" cy="640080"/>
          </a:xfrm>
          <a:prstGeom prst="ellipse">
            <a:avLst/>
          </a:prstGeom>
          <a:solidFill>
            <a:srgbClr val="2C7A8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5786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3042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Quinzenal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920240" y="27340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suficiente para virar hábito sem pesar na agenda.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429000"/>
            <a:ext cx="5486400" cy="1207008"/>
          </a:xfrm>
          <a:prstGeom prst="roundRect">
            <a:avLst>
              <a:gd name="adj" fmla="val 681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3712464"/>
            <a:ext cx="640080" cy="640080"/>
          </a:xfrm>
          <a:prstGeom prst="ellipse">
            <a:avLst/>
          </a:prstGeom>
          <a:solidFill>
            <a:srgbClr val="2C7A8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390448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630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 a 45 min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920240" y="40599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o bastante para caber entre cerimônias e entregas.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4754880"/>
            <a:ext cx="5486400" cy="1207008"/>
          </a:xfrm>
          <a:prstGeom prst="roundRect">
            <a:avLst>
              <a:gd name="adj" fmla="val 681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5038344"/>
            <a:ext cx="640080" cy="640080"/>
          </a:xfrm>
          <a:prstGeom prst="ellipse">
            <a:avLst/>
          </a:prstGeom>
          <a:solidFill>
            <a:srgbClr val="2C7A8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523036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9560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Temas práticos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920240" y="538581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reais dos times, não teoria solta.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83680" y="2103120"/>
            <a:ext cx="4800600" cy="2148840"/>
          </a:xfrm>
          <a:prstGeom prst="roundRect">
            <a:avLst>
              <a:gd name="adj" fmla="val 4255"/>
            </a:avLst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903720" y="23957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POR PESSOA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58000" y="276148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~1,5h</a:t>
            </a:r>
            <a:pPr algn="l" indent="0" marL="0">
              <a:buNone/>
            </a:pPr>
            <a:r>
              <a:rPr lang="en-US" sz="2200" dirty="0">
                <a:solidFill>
                  <a:srgbClr val="5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mês</a:t>
            </a:r>
            <a:endParaRPr lang="en-US" sz="5200" dirty="0"/>
          </a:p>
        </p:txBody>
      </p:sp>
      <p:sp>
        <p:nvSpPr>
          <p:cNvPr id="22" name="Text 17"/>
          <p:cNvSpPr/>
          <p:nvPr/>
        </p:nvSpPr>
        <p:spPr>
          <a:xfrm>
            <a:off x="6903720" y="36393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pílulas por mês, por pessoa. Menos do que o retrabalho que uma DoD frouxa já custa hoje.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583680" y="4434840"/>
            <a:ext cx="4800600" cy="1600200"/>
          </a:xfrm>
          <a:prstGeom prst="roundRect">
            <a:avLst>
              <a:gd name="adj" fmla="val 5714"/>
            </a:avLst>
          </a:prstGeom>
          <a:solidFill>
            <a:srgbClr val="F6E2CE"/>
          </a:solidFill>
          <a:ln/>
        </p:spPr>
      </p:sp>
      <p:sp>
        <p:nvSpPr>
          <p:cNvPr id="24" name="Text 19"/>
          <p:cNvSpPr/>
          <p:nvPr/>
        </p:nvSpPr>
        <p:spPr>
          <a:xfrm>
            <a:off x="6903720" y="46451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06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QUINZENAL?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903720" y="495604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aprendizado espaçado fixa melhor que um evento único. Mensal é longo demais para criar ritmo — as pessoas esquecem que a iniciativa existe.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SABEREMOS SE FUNCIONOU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própria iniciativa baseada em evidências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começando a apresentar indicadores agora. As Pílulas e a régua de medição nascem juntas: uma forma a linguagem comum, a outra mede o efeito.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5257800" cy="3429000"/>
          </a:xfrm>
          <a:prstGeom prst="roundRect">
            <a:avLst>
              <a:gd name="adj" fmla="val 2667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907792"/>
            <a:ext cx="658368" cy="658368"/>
          </a:xfrm>
          <a:prstGeom prst="ellipse">
            <a:avLst/>
          </a:prstGeom>
          <a:solidFill>
            <a:srgbClr val="2C7A8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304" y="309981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Sinais diretos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965960" y="33558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controlamos — visível em semanas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097280" y="3867912"/>
            <a:ext cx="274320" cy="274320"/>
          </a:xfrm>
          <a:prstGeom prst="ellipse">
            <a:avLst/>
          </a:prstGeom>
          <a:solidFill>
            <a:srgbClr val="E8924A"/>
          </a:solidFill>
          <a:ln/>
        </p:spPr>
      </p:sp>
      <p:sp>
        <p:nvSpPr>
          <p:cNvPr id="11" name="Text 8"/>
          <p:cNvSpPr/>
          <p:nvPr/>
        </p:nvSpPr>
        <p:spPr>
          <a:xfrm>
            <a:off x="1536192" y="380390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de confiança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536192" y="409651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 1 a 5, quão confortável você está escrevendo critérios de aceite?” — antes e depois de cada pílula, em 2 minutos.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97280" y="4965192"/>
            <a:ext cx="274320" cy="274320"/>
          </a:xfrm>
          <a:prstGeom prst="ellipse">
            <a:avLst/>
          </a:prstGeom>
          <a:solidFill>
            <a:srgbClr val="E8924A"/>
          </a:solidFill>
          <a:ln/>
        </p:spPr>
      </p:sp>
      <p:sp>
        <p:nvSpPr>
          <p:cNvPr id="14" name="Text 11"/>
          <p:cNvSpPr/>
          <p:nvPr/>
        </p:nvSpPr>
        <p:spPr>
          <a:xfrm>
            <a:off x="1536192" y="49011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participação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536192" y="51937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e adesão recorrente às pílulas.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63640" y="2606040"/>
            <a:ext cx="5120640" cy="3429000"/>
          </a:xfrm>
          <a:prstGeom prst="roundRect">
            <a:avLst>
              <a:gd name="adj" fmla="val 2667"/>
            </a:avLst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83680" y="2907792"/>
            <a:ext cx="658368" cy="658368"/>
          </a:xfrm>
          <a:prstGeom prst="ellipse">
            <a:avLst/>
          </a:prstGeom>
          <a:solidFill>
            <a:srgbClr val="E8924A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309981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52360" y="2944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Sinais indiretos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7452360" y="3355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acompanhamos — sem prometer causalidade</a:t>
            </a:r>
            <a:endParaRPr lang="en-US" sz="11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85876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38039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histórias com critérios de aceite preenchidos no Jira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62272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40880" y="4407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médio dos cards no fluxo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06577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0" y="50109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EA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de retrabalho identificado pelos times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58368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observar se melhoram ao longo do trimestre — observar, não garantir.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JULHO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Agilidade e Produto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561320" y="548640"/>
            <a:ext cx="841248" cy="841248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64" y="786384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2057400"/>
            <a:ext cx="5285232" cy="3977640"/>
          </a:xfrm>
          <a:prstGeom prst="roundRect">
            <a:avLst>
              <a:gd name="adj" fmla="val 2299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1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23774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PÍLULA 01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" y="315468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Afinal, o que é Agilidade?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88720" y="4206240"/>
            <a:ext cx="4507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x entrega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dos times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82512" y="2057400"/>
            <a:ext cx="5285232" cy="3977640"/>
          </a:xfrm>
          <a:prstGeom prst="roundRect">
            <a:avLst>
              <a:gd name="adj" fmla="val 2299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48272" y="23774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/>
        </p:spPr>
      </p:sp>
      <p:sp>
        <p:nvSpPr>
          <p:cNvPr id="13" name="Text 10"/>
          <p:cNvSpPr/>
          <p:nvPr/>
        </p:nvSpPr>
        <p:spPr>
          <a:xfrm>
            <a:off x="6748272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PÍLULA 02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48272" y="315468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uma iniciativa vira valor?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793992" y="4206240"/>
            <a:ext cx="4507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Iniciativa, épico e história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aceite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de valor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AGOSTO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Ferramentas, IA e Métricas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561320" y="548640"/>
            <a:ext cx="841248" cy="841248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64" y="786384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2057400"/>
            <a:ext cx="5285232" cy="3977640"/>
          </a:xfrm>
          <a:prstGeom prst="roundRect">
            <a:avLst>
              <a:gd name="adj" fmla="val 2299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1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23774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PÍLULA 03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" y="315468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IA aplicada à gestão de produto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88720" y="4206240"/>
            <a:ext cx="4507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para PMs e POs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ao backlog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Escrita de histórias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prompts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82512" y="2057400"/>
            <a:ext cx="5285232" cy="3977640"/>
          </a:xfrm>
          <a:prstGeom prst="roundRect">
            <a:avLst>
              <a:gd name="adj" fmla="val 2299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48272" y="23774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/>
        </p:spPr>
      </p:sp>
      <p:sp>
        <p:nvSpPr>
          <p:cNvPr id="13" name="Text 10"/>
          <p:cNvSpPr/>
          <p:nvPr/>
        </p:nvSpPr>
        <p:spPr>
          <a:xfrm>
            <a:off x="6748272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PÍLULA 04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48272" y="315468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Métricas que importam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793992" y="4206240"/>
            <a:ext cx="4507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e Cycle Time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Aging, bloqueios e gargalos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baseadas em evidências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SETEMBRO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Qualidade, Aprendizado e Previsibilidade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0561320" y="548640"/>
            <a:ext cx="841248" cy="841248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9064" y="786384"/>
            <a:ext cx="365760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2057400"/>
            <a:ext cx="5285232" cy="3977640"/>
          </a:xfrm>
          <a:prstGeom prst="roundRect">
            <a:avLst>
              <a:gd name="adj" fmla="val 2299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1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43000" y="23774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PÍLULA 05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" y="315468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aprendemos com um sprint que deu errado?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88720" y="4206240"/>
            <a:ext cx="4507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Retrospectivas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contínuo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382512" y="2057400"/>
            <a:ext cx="5285232" cy="3977640"/>
          </a:xfrm>
          <a:prstGeom prst="roundRect">
            <a:avLst>
              <a:gd name="adj" fmla="val 2299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48272" y="23774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0F4C5C"/>
          </a:solidFill>
          <a:ln/>
        </p:spPr>
      </p:sp>
      <p:sp>
        <p:nvSpPr>
          <p:cNvPr id="13" name="Text 10"/>
          <p:cNvSpPr/>
          <p:nvPr/>
        </p:nvSpPr>
        <p:spPr>
          <a:xfrm>
            <a:off x="6748272" y="23774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PÍLULA 06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48272" y="3154680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21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que as estimativas erram tanto?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793992" y="4206240"/>
            <a:ext cx="4507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Incerteza e complexidade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</a:t>
            </a:r>
            <a:endParaRPr lang="en-US" sz="145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6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Previsibilidade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CICLOS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Backlog de temas para os próximos ciclos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7007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provocações que guiam para onde a trilha evolui depois de setembro.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13606F"/>
          </a:solidFill>
          <a:ln/>
          <a:effectLst>
            <a:outerShdw sx="100000" sy="100000" kx="0" ky="0" algn="bl" rotWithShape="0" blurRad="88900" dist="38100" dir="2700000">
              <a:srgbClr val="0B2A31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654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377440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Jira conta a verdade?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382512" y="2377440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13606F"/>
          </a:solidFill>
          <a:ln/>
          <a:effectLst>
            <a:outerShdw sx="100000" sy="100000" kx="0" ky="0" algn="bl" rotWithShape="0" blurRad="88900" dist="38100" dir="2700000">
              <a:srgbClr val="0B2A31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6654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59752" y="2377440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ocupados ou gerando valor?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77240" y="3502152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13606F"/>
          </a:solidFill>
          <a:ln/>
          <a:effectLst>
            <a:outerShdw sx="100000" sy="100000" kx="0" ky="0" algn="bl" rotWithShape="0" blurRad="88900" dist="38100" dir="2700000">
              <a:srgbClr val="0B2A31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79018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3502152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priorizar quando tudo é prioridade?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382512" y="3502152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13606F"/>
          </a:solidFill>
          <a:ln/>
          <a:effectLst>
            <a:outerShdw sx="100000" sy="100000" kx="0" ky="0" algn="bl" rotWithShape="0" blurRad="88900" dist="38100" dir="2700000">
              <a:srgbClr val="0B2A31">
                <a:alpha val="2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79018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59752" y="3502152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mito da equipe 100% ocupada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777240" y="4626864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13606F"/>
          </a:solidFill>
          <a:ln/>
          <a:effectLst>
            <a:outerShdw sx="100000" sy="100000" kx="0" ky="0" algn="bl" rotWithShape="0" blurRad="88900" dist="38100" dir="2700000">
              <a:srgbClr val="0B2A31">
                <a:alpha val="20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914900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626864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reduzir dependências entre times?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6382512" y="4626864"/>
            <a:ext cx="5285232" cy="868680"/>
          </a:xfrm>
          <a:prstGeom prst="roundRect">
            <a:avLst>
              <a:gd name="adj" fmla="val 9474"/>
            </a:avLst>
          </a:prstGeom>
          <a:solidFill>
            <a:srgbClr val="13606F"/>
          </a:solidFill>
          <a:ln/>
          <a:effectLst>
            <a:outerShdw sx="100000" sy="100000" kx="0" ky="0" algn="bl" rotWithShape="0" blurRad="88900" dist="38100" dir="2700000">
              <a:srgbClr val="0B2A31">
                <a:alpha val="20000"/>
              </a:srgbClr>
            </a:outerShdw>
          </a:effectLst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4914900"/>
            <a:ext cx="292608" cy="29260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159752" y="4626864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diferencia um time maduro de um time ocupado?</a:t>
            </a:r>
            <a:endParaRPr lang="en-US" sz="1550" dirty="0"/>
          </a:p>
        </p:txBody>
      </p:sp>
      <p:sp>
        <p:nvSpPr>
          <p:cNvPr id="23" name="Shape 15"/>
          <p:cNvSpPr/>
          <p:nvPr/>
        </p:nvSpPr>
        <p:spPr>
          <a:xfrm>
            <a:off x="777240" y="5751576"/>
            <a:ext cx="10890504" cy="868680"/>
          </a:xfrm>
          <a:prstGeom prst="roundRect">
            <a:avLst>
              <a:gd name="adj" fmla="val 9474"/>
            </a:avLst>
          </a:prstGeom>
          <a:solidFill>
            <a:srgbClr val="13606F"/>
          </a:solidFill>
          <a:ln/>
          <a:effectLst>
            <a:outerShdw sx="100000" sy="100000" kx="0" ky="0" algn="bl" rotWithShape="0" blurRad="88900" dist="38100" dir="2700000">
              <a:srgbClr val="0B2A31">
                <a:alpha val="20000"/>
              </a:srgbClr>
            </a:outerShdw>
          </a:effectLst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6039612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554480" y="5751576"/>
            <a:ext cx="9884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facilitação: sínteses de retro, documentação e cerimônias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3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esperamos observar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61772" y="205740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7532" y="2350008"/>
            <a:ext cx="603504" cy="603504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" y="25420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7532" y="3026664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Backlog mais legível no Jira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7532" y="3575304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com critérios de aceite claros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1396" y="205740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7156" y="2350008"/>
            <a:ext cx="603504" cy="603504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5420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7156" y="3026664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IA usada com critério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77156" y="3575304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fluxo de produto, com boas práticas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61020" y="205740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26780" y="2350008"/>
            <a:ext cx="603504" cy="603504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804" y="25420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6780" y="3026664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Menos retrabalho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26780" y="3575304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uma Definition of Done mais firme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386584" y="420624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52344" y="4498848"/>
            <a:ext cx="603504" cy="603504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469087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752344" y="5175504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Previsibilidade melhor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752344" y="5724144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entregas e nos prazos assumidos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236208" y="4206240"/>
            <a:ext cx="3538728" cy="1874520"/>
          </a:xfrm>
          <a:prstGeom prst="roundRect">
            <a:avLst>
              <a:gd name="adj" fmla="val 4878"/>
            </a:avLst>
          </a:prstGeom>
          <a:solidFill>
            <a:srgbClr val="F4F8F9"/>
          </a:solidFill>
          <a:ln/>
          <a:effectLst>
            <a:outerShdw sx="100000" sy="100000" kx="0" ky="0" algn="bl" rotWithShape="0" blurRad="88900" dist="38100" dir="2700000">
              <a:srgbClr val="0B2A3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01968" y="4498848"/>
            <a:ext cx="603504" cy="603504"/>
          </a:xfrm>
          <a:prstGeom prst="ellipse">
            <a:avLst/>
          </a:prstGeom>
          <a:solidFill>
            <a:srgbClr val="0F4C5C"/>
          </a:solidFill>
          <a:ln/>
          <a:effectLst>
            <a:outerShdw sx="100000" sy="100000" kx="0" ky="0" algn="bl" rotWithShape="0" blurRad="88900" dist="38100" dir="2700000">
              <a:srgbClr val="0B2A31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469087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601968" y="5175504"/>
            <a:ext cx="2807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632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Times nomeando seus gargalos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601968" y="5724144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para enxergar e tratar bloqueios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7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920000">
            <a:off x="9326880" y="-548640"/>
            <a:ext cx="868680" cy="2926080"/>
          </a:xfrm>
          <a:prstGeom prst="roundRect">
            <a:avLst>
              <a:gd name="adj" fmla="val 49474"/>
            </a:avLst>
          </a:prstGeom>
          <a:solidFill>
            <a:srgbClr val="13606F"/>
          </a:solidFill>
          <a:ln/>
        </p:spPr>
      </p:sp>
      <p:sp>
        <p:nvSpPr>
          <p:cNvPr id="3" name="Shape 1"/>
          <p:cNvSpPr/>
          <p:nvPr/>
        </p:nvSpPr>
        <p:spPr>
          <a:xfrm rot="1920000">
            <a:off x="10424160" y="4023360"/>
            <a:ext cx="731520" cy="2377440"/>
          </a:xfrm>
          <a:prstGeom prst="roundRect">
            <a:avLst>
              <a:gd name="adj" fmla="val 50000"/>
            </a:avLst>
          </a:prstGeom>
          <a:solidFill>
            <a:srgbClr val="E8924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8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9418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Validar a proposta e iniciar a trilha em julho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3502152" cy="1645920"/>
          </a:xfrm>
          <a:prstGeom prst="roundRect">
            <a:avLst>
              <a:gd name="adj" fmla="val 5556"/>
            </a:avLst>
          </a:prstGeom>
          <a:solidFill>
            <a:srgbClr val="13606F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495604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Validar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5340096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formato, a cadência e o investimento por pessoa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4251960"/>
            <a:ext cx="3502152" cy="1645920"/>
          </a:xfrm>
          <a:prstGeom prst="roundRect">
            <a:avLst>
              <a:gd name="adj" fmla="val 5556"/>
            </a:avLst>
          </a:prstGeom>
          <a:solidFill>
            <a:srgbClr val="13606F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37760" y="495604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Confirmar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5340096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régua de medição — autoavaliação e indicadores de Jira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4251960"/>
            <a:ext cx="3502152" cy="1645920"/>
          </a:xfrm>
          <a:prstGeom prst="roundRect">
            <a:avLst>
              <a:gd name="adj" fmla="val 5556"/>
            </a:avLst>
          </a:prstGeom>
          <a:solidFill>
            <a:srgbClr val="13606F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732520" y="495604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Iniciar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32520" y="5340096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Pílula 01 na primeira quinzena de julho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Pílulas de Agilidade</dc:title>
  <dc:subject>PptxGenJS Presentation</dc:subject>
  <dc:creator>Agilidade — Produtos Digitais Ipiranga</dc:creator>
  <cp:lastModifiedBy>Agilidade — Produtos Digitais Ipiranga</cp:lastModifiedBy>
  <cp:revision>1</cp:revision>
  <dcterms:created xsi:type="dcterms:W3CDTF">2026-06-23T22:04:16Z</dcterms:created>
  <dcterms:modified xsi:type="dcterms:W3CDTF">2026-06-23T22:04:16Z</dcterms:modified>
</cp:coreProperties>
</file>